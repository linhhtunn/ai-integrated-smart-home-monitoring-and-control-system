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5FC4C4"/>
                </a:solidFill>
                <a:latin typeface="IBM Plex Mono"/>
              </a:rPr>
              <a:t>ĐỒ ÁN MÔN HỌC · IoT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9601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E7ECF1"/>
                </a:solidFill>
                <a:latin typeface="Archivo"/>
              </a:rPr>
              <a:t>Mô hình mạng &amp;</a:t>
            </a:r>
          </a:p>
          <a:p>
            <a:pPr algn="l">
              <a:lnSpc>
                <a:spcPct val="115000"/>
              </a:lnSpc>
            </a:pPr>
            <a:r>
              <a:rPr sz="4400" b="1">
                <a:solidFill>
                  <a:srgbClr val="5FC4C4"/>
                </a:solidFill>
                <a:latin typeface="Archivo"/>
              </a:rPr>
              <a:t>công nghệ mạng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868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94A4B2"/>
                </a:solidFill>
                <a:latin typeface="IBM Plex Sans"/>
              </a:rPr>
              <a:t>Phân tích kiến trúc mạng thực tế của hệ thống Nhà thông minh: ESP32 → MQTT → Node.js → WebSocket → React.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1426464" cy="3657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354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142646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94A4B2"/>
                </a:solidFill>
                <a:latin typeface="IBM Plex Mono"/>
              </a:rPr>
              <a:t>WiFi 802.11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86584" y="4160520"/>
            <a:ext cx="923544" cy="3657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354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6584" y="4160520"/>
            <a:ext cx="92354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94A4B2"/>
                </a:solidFill>
                <a:latin typeface="IBM Plex Mono"/>
              </a:rPr>
              <a:t>TCP/IP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4160520"/>
            <a:ext cx="722376" cy="3657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354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7287" y="4160520"/>
            <a:ext cx="7223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94A4B2"/>
                </a:solidFill>
                <a:latin typeface="IBM Plex Mono"/>
              </a:rPr>
              <a:t>MQTT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4160520"/>
            <a:ext cx="1225295" cy="3657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354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4160520"/>
            <a:ext cx="122529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94A4B2"/>
                </a:solidFill>
                <a:latin typeface="IBM Plex Mono"/>
              </a:rPr>
              <a:t>HTTP REST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79" y="4160520"/>
            <a:ext cx="1225295" cy="3657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354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79" y="4160520"/>
            <a:ext cx="122529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94A4B2"/>
                </a:solidFill>
                <a:latin typeface="IBM Plex Mono"/>
              </a:rPr>
              <a:t>WebSocket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4892040"/>
            <a:ext cx="4663440" cy="0"/>
          </a:xfrm>
          <a:prstGeom prst="line">
            <a:avLst/>
          </a:prstGeom>
          <a:ln w="12700">
            <a:solidFill>
              <a:srgbClr val="354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502920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4A4B2"/>
                </a:solidFill>
                <a:latin typeface="IBM Plex Mono"/>
              </a:rPr>
              <a:t>Thực hiện: Nguyễn Thùy Linh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94A4B2"/>
                </a:solidFill>
                <a:latin typeface="IBM Plex Mono"/>
              </a:rPr>
              <a:t>Trường Đại học Điện lực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FC4C4"/>
                </a:solidFill>
                <a:latin typeface="IBM Plex Mono"/>
              </a:rPr>
              <a:t>TỔNG QUAN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868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7ECF1"/>
                </a:solidFill>
                <a:latin typeface="Archivo"/>
              </a:rPr>
              <a:t>Hệ thống Nhà thông minh — phòng khách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400" b="1">
                <a:solidFill>
                  <a:srgbClr val="354450"/>
                </a:solidFill>
                <a:latin typeface="Archivo"/>
              </a:rPr>
              <a:t>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881360" cy="0"/>
          </a:xfrm>
          <a:prstGeom prst="line">
            <a:avLst/>
          </a:prstGeom>
          <a:ln w="12700">
            <a:solidFill>
              <a:srgbClr val="354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691640"/>
            <a:ext cx="106070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>
                <a:solidFill>
                  <a:srgbClr val="E7ECF1"/>
                </a:solidFill>
                <a:latin typeface="IBM Plex Sans"/>
              </a:rPr>
              <a:t>•  Vi điều khiển ESP32 (firmware ESPHome) đọc dữ liệu từ 3 cảm biến và điều khiển 3 cơ cấu chấp hành trong phòng khách.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>
                <a:solidFill>
                  <a:srgbClr val="E7ECF1"/>
                </a:solidFill>
                <a:latin typeface="IBM Plex Sans"/>
              </a:rPr>
              <a:t>•  Toàn bộ dữ liệu truyền qua MQTT tới backend Node.js, được lưu vào MySQL và phát realtime cho dashboard qua WebSocket.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>
                <a:solidFill>
                  <a:srgbClr val="E7ECF1"/>
                </a:solidFill>
                <a:latin typeface="IBM Plex Sans"/>
              </a:rPr>
              <a:t>•  Dashboard React hiển thị biểu đồ cảm biến, điều khiển thiết bị, cảnh báo bất thường và chatbot AI (LLM chạy cục bộ qua Ollama).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>
                <a:solidFill>
                  <a:srgbClr val="E7ECF1"/>
                </a:solidFill>
                <a:latin typeface="IBM Plex Sans"/>
              </a:rPr>
              <a:t>•  Nội dung buổi trình bày: mô hình mạng phân lớp và công nghệ mạng cụ thể mà đồ án áp dụng ở từng lớp.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486400"/>
            <a:ext cx="2514600" cy="960120"/>
          </a:xfrm>
          <a:prstGeom prst="roundRect">
            <a:avLst>
              <a:gd name="adj" fmla="val 8000"/>
            </a:avLst>
          </a:prstGeom>
          <a:solidFill>
            <a:srgbClr val="16212C"/>
          </a:solidFill>
          <a:ln w="12700">
            <a:solidFill>
              <a:srgbClr val="354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5614416"/>
            <a:ext cx="21854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0964F"/>
                </a:solidFill>
                <a:latin typeface="Archiv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6053328"/>
            <a:ext cx="21854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4A4B2"/>
                </a:solidFill>
                <a:latin typeface="IBM Plex Sans"/>
              </a:rPr>
              <a:t>vi điều khiển — ESP32 (ESPHome)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39" y="5486400"/>
            <a:ext cx="2514600" cy="960120"/>
          </a:xfrm>
          <a:prstGeom prst="roundRect">
            <a:avLst>
              <a:gd name="adj" fmla="val 8000"/>
            </a:avLst>
          </a:prstGeom>
          <a:solidFill>
            <a:srgbClr val="16212C"/>
          </a:solidFill>
          <a:ln w="12700">
            <a:solidFill>
              <a:srgbClr val="354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6432" y="5614416"/>
            <a:ext cx="21854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0964F"/>
                </a:solidFill>
                <a:latin typeface="Archiv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6053328"/>
            <a:ext cx="21854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4A4B2"/>
                </a:solidFill>
                <a:latin typeface="IBM Plex Sans"/>
              </a:rPr>
              <a:t>cảm biến — DHT11 · PIR · LDR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5486400"/>
            <a:ext cx="2514600" cy="960120"/>
          </a:xfrm>
          <a:prstGeom prst="roundRect">
            <a:avLst>
              <a:gd name="adj" fmla="val 8000"/>
            </a:avLst>
          </a:prstGeom>
          <a:solidFill>
            <a:srgbClr val="16212C"/>
          </a:solidFill>
          <a:ln w="12700">
            <a:solidFill>
              <a:srgbClr val="354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08192" y="5614416"/>
            <a:ext cx="21854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0964F"/>
                </a:solidFill>
                <a:latin typeface="Archivo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8192" y="6053328"/>
            <a:ext cx="21854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4A4B2"/>
                </a:solidFill>
                <a:latin typeface="IBM Plex Sans"/>
              </a:rPr>
              <a:t>cơ cấu chấp hành — Relay · LED · Còi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5486400"/>
            <a:ext cx="2514600" cy="960120"/>
          </a:xfrm>
          <a:prstGeom prst="roundRect">
            <a:avLst>
              <a:gd name="adj" fmla="val 8000"/>
            </a:avLst>
          </a:prstGeom>
          <a:solidFill>
            <a:srgbClr val="16212C"/>
          </a:solidFill>
          <a:ln w="12700">
            <a:solidFill>
              <a:srgbClr val="354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59952" y="5614416"/>
            <a:ext cx="21854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0964F"/>
                </a:solidFill>
                <a:latin typeface="Archiv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6053328"/>
            <a:ext cx="21854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4A4B2"/>
                </a:solidFill>
                <a:latin typeface="IBM Plex Sans"/>
              </a:rPr>
              <a:t>giao thức mạng chính — MQTT · HTTP · 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FC4C4"/>
                </a:solidFill>
                <a:latin typeface="IBM Plex Mono"/>
              </a:rPr>
              <a:t>KIẾN TRÚC MẠNG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868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7ECF1"/>
                </a:solidFill>
                <a:latin typeface="Archivo"/>
              </a:rPr>
              <a:t>Sơ đồ kiến trúc mạng tổng thể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400" b="1">
                <a:solidFill>
                  <a:srgbClr val="354450"/>
                </a:solidFill>
                <a:latin typeface="Archivo"/>
              </a:rP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881360" cy="0"/>
          </a:xfrm>
          <a:prstGeom prst="line">
            <a:avLst/>
          </a:prstGeom>
          <a:ln w="12700">
            <a:solidFill>
              <a:srgbClr val="354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937760" y="1783080"/>
            <a:ext cx="2286000" cy="822960"/>
          </a:xfrm>
          <a:prstGeom prst="roundRect">
            <a:avLst>
              <a:gd name="adj" fmla="val 8000"/>
            </a:avLst>
          </a:prstGeom>
          <a:solidFill>
            <a:srgbClr val="16212C"/>
          </a:solidFill>
          <a:ln w="12700">
            <a:solidFill>
              <a:srgbClr val="354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47488" y="1874520"/>
            <a:ext cx="20665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7ECF1"/>
                </a:solidFill>
                <a:latin typeface="IBM Plex Mono"/>
              </a:rPr>
              <a:t>Router / 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7488" y="2167128"/>
            <a:ext cx="20665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>
                <a:solidFill>
                  <a:srgbClr val="94A4B2"/>
                </a:solidFill>
                <a:latin typeface="IBM Plex Mono"/>
              </a:rPr>
              <a:t>WiFi nhà</a:t>
            </a:r>
          </a:p>
          <a:p>
            <a:pPr algn="ctr">
              <a:lnSpc>
                <a:spcPct val="120000"/>
              </a:lnSpc>
            </a:pPr>
            <a:r>
              <a:rPr sz="950" b="0">
                <a:solidFill>
                  <a:srgbClr val="94A4B2"/>
                </a:solidFill>
                <a:latin typeface="IBM Plex Mono"/>
              </a:rPr>
              <a:t>LAN nội bộ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20440"/>
            <a:ext cx="3108960" cy="1920240"/>
          </a:xfrm>
          <a:prstGeom prst="roundRect">
            <a:avLst>
              <a:gd name="adj" fmla="val 8000"/>
            </a:avLst>
          </a:prstGeom>
          <a:solidFill>
            <a:srgbClr val="16212C"/>
          </a:solidFill>
          <a:ln w="22225">
            <a:solidFill>
              <a:srgbClr val="E09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611880"/>
            <a:ext cx="2889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0964F"/>
                </a:solidFill>
                <a:latin typeface="IBM Plex Mono"/>
              </a:rPr>
              <a:t>ESP32 (ESPHome)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904488"/>
            <a:ext cx="288950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>
                <a:solidFill>
                  <a:srgbClr val="94A4B2"/>
                </a:solidFill>
                <a:latin typeface="IBM Plex Mono"/>
              </a:rPr>
              <a:t>Cảm biến:</a:t>
            </a:r>
          </a:p>
          <a:p>
            <a:pPr algn="ctr">
              <a:lnSpc>
                <a:spcPct val="120000"/>
              </a:lnSpc>
            </a:pPr>
            <a:r>
              <a:rPr sz="950" b="0">
                <a:solidFill>
                  <a:srgbClr val="94A4B2"/>
                </a:solidFill>
                <a:latin typeface="IBM Plex Mono"/>
              </a:rPr>
              <a:t>DHT11 · PIR · LDR</a:t>
            </a:r>
          </a:p>
          <a:p>
            <a:pPr algn="ctr">
              <a:lnSpc>
                <a:spcPct val="120000"/>
              </a:lnSpc>
            </a:pPr>
            <a:r>
              <a:rPr sz="950" b="0">
                <a:solidFill>
                  <a:srgbClr val="94A4B2"/>
                </a:solidFill>
                <a:latin typeface="IBM Plex Mono"/>
              </a:rPr>
              <a:t/>
            </a:r>
          </a:p>
          <a:p>
            <a:pPr algn="ctr">
              <a:lnSpc>
                <a:spcPct val="120000"/>
              </a:lnSpc>
            </a:pPr>
            <a:r>
              <a:rPr sz="950" b="0">
                <a:solidFill>
                  <a:srgbClr val="94A4B2"/>
                </a:solidFill>
                <a:latin typeface="IBM Plex Mono"/>
              </a:rPr>
              <a:t>Cơ cấu chấp hành:</a:t>
            </a:r>
          </a:p>
          <a:p>
            <a:pPr algn="ctr">
              <a:lnSpc>
                <a:spcPct val="120000"/>
              </a:lnSpc>
            </a:pPr>
            <a:r>
              <a:rPr sz="950" b="0">
                <a:solidFill>
                  <a:srgbClr val="94A4B2"/>
                </a:solidFill>
                <a:latin typeface="IBM Plex Mono"/>
              </a:rPr>
              <a:t>Relay · LED · Còi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520440"/>
            <a:ext cx="3291840" cy="1920240"/>
          </a:xfrm>
          <a:prstGeom prst="roundRect">
            <a:avLst>
              <a:gd name="adj" fmla="val 8000"/>
            </a:avLst>
          </a:prstGeom>
          <a:solidFill>
            <a:srgbClr val="16212C"/>
          </a:solidFill>
          <a:ln w="12700">
            <a:solidFill>
              <a:srgbClr val="354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3611880"/>
            <a:ext cx="3072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7ECF1"/>
                </a:solidFill>
                <a:latin typeface="IBM Plex Mono"/>
              </a:rPr>
              <a:t>Máy chủ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3904488"/>
            <a:ext cx="307238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>
                <a:solidFill>
                  <a:srgbClr val="94A4B2"/>
                </a:solidFill>
                <a:latin typeface="IBM Plex Mono"/>
              </a:rPr>
              <a:t>MQTT Broker :1883</a:t>
            </a:r>
          </a:p>
          <a:p>
            <a:pPr algn="ctr">
              <a:lnSpc>
                <a:spcPct val="120000"/>
              </a:lnSpc>
            </a:pPr>
            <a:r>
              <a:rPr sz="950" b="0">
                <a:solidFill>
                  <a:srgbClr val="94A4B2"/>
                </a:solidFill>
                <a:latin typeface="IBM Plex Mono"/>
              </a:rPr>
              <a:t>Express API :3000</a:t>
            </a:r>
          </a:p>
          <a:p>
            <a:pPr algn="ctr">
              <a:lnSpc>
                <a:spcPct val="120000"/>
              </a:lnSpc>
            </a:pPr>
            <a:r>
              <a:rPr sz="950" b="0">
                <a:solidFill>
                  <a:srgbClr val="94A4B2"/>
                </a:solidFill>
                <a:latin typeface="IBM Plex Mono"/>
              </a:rPr>
              <a:t>WebSocket :8081</a:t>
            </a:r>
          </a:p>
          <a:p>
            <a:pPr algn="ctr">
              <a:lnSpc>
                <a:spcPct val="120000"/>
              </a:lnSpc>
            </a:pPr>
            <a:r>
              <a:rPr sz="950" b="0">
                <a:solidFill>
                  <a:srgbClr val="94A4B2"/>
                </a:solidFill>
                <a:latin typeface="IBM Plex Mono"/>
              </a:rPr>
              <a:t>MySQL · Ollama :11434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3520440"/>
            <a:ext cx="3108960" cy="1920240"/>
          </a:xfrm>
          <a:prstGeom prst="roundRect">
            <a:avLst>
              <a:gd name="adj" fmla="val 8000"/>
            </a:avLst>
          </a:prstGeom>
          <a:solidFill>
            <a:srgbClr val="16212C"/>
          </a:solidFill>
          <a:ln w="22225">
            <a:solidFill>
              <a:srgbClr val="5F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3611880"/>
            <a:ext cx="2889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5FC4C4"/>
                </a:solidFill>
                <a:latin typeface="IBM Plex Mono"/>
              </a:rPr>
              <a:t>Dashboard (React)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3904488"/>
            <a:ext cx="288950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>
                <a:solidFill>
                  <a:srgbClr val="94A4B2"/>
                </a:solidFill>
                <a:latin typeface="IBM Plex Mono"/>
              </a:rPr>
              <a:t>Trình duyệt trên</a:t>
            </a:r>
          </a:p>
          <a:p>
            <a:pPr algn="ctr">
              <a:lnSpc>
                <a:spcPct val="120000"/>
              </a:lnSpc>
            </a:pPr>
            <a:r>
              <a:rPr sz="950" b="0">
                <a:solidFill>
                  <a:srgbClr val="94A4B2"/>
                </a:solidFill>
                <a:latin typeface="IBM Plex Mono"/>
              </a:rPr>
              <a:t>laptop / điện thoại</a:t>
            </a:r>
          </a:p>
          <a:p>
            <a:pPr algn="ctr">
              <a:lnSpc>
                <a:spcPct val="120000"/>
              </a:lnSpc>
            </a:pPr>
            <a:r>
              <a:rPr sz="950" b="0">
                <a:solidFill>
                  <a:srgbClr val="94A4B2"/>
                </a:solidFill>
                <a:latin typeface="IBM Plex Mono"/>
              </a:rPr>
              <a:t>WS :8081 realtime</a:t>
            </a:r>
          </a:p>
          <a:p>
            <a:pPr algn="ctr">
              <a:lnSpc>
                <a:spcPct val="120000"/>
              </a:lnSpc>
            </a:pPr>
            <a:r>
              <a:rPr sz="950" b="0">
                <a:solidFill>
                  <a:srgbClr val="94A4B2"/>
                </a:solidFill>
                <a:latin typeface="IBM Plex Mono"/>
              </a:rPr>
              <a:t>REST :3000 (JSON)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2194560" y="2606040"/>
            <a:ext cx="3886200" cy="914400"/>
          </a:xfrm>
          <a:prstGeom prst="line">
            <a:avLst/>
          </a:prstGeom>
          <a:ln w="22225">
            <a:solidFill>
              <a:srgbClr val="94A4B2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80760" y="2606040"/>
            <a:ext cx="0" cy="914400"/>
          </a:xfrm>
          <a:prstGeom prst="line">
            <a:avLst/>
          </a:prstGeom>
          <a:ln w="22225">
            <a:solidFill>
              <a:srgbClr val="94A4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80760" y="2606040"/>
            <a:ext cx="3840480" cy="914400"/>
          </a:xfrm>
          <a:prstGeom prst="line">
            <a:avLst/>
          </a:prstGeom>
          <a:ln w="22225">
            <a:solidFill>
              <a:srgbClr val="94A4B2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29260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94A4B2"/>
                </a:solidFill>
                <a:latin typeface="IBM Plex Mono"/>
              </a:rPr>
              <a:t>WiFi 802.11
MQTT pub/sub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7432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94A4B2"/>
                </a:solidFill>
                <a:latin typeface="IBM Plex Mono"/>
              </a:rPr>
              <a:t>LAN nội bộ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9260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94A4B2"/>
                </a:solidFill>
                <a:latin typeface="IBM Plex Mono"/>
              </a:rPr>
              <a:t>WiFi 802.11
HTTP + WebSocket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669279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4A4B2"/>
                </a:solidFill>
                <a:latin typeface="IBM Plex Sans"/>
              </a:rPr>
              <a:t>ESP32 và dashboard là hai điểm cuối không dây (nét đứt) trên cùng mạng LAN; mọi xử lý chạy tập trung trên một máy chủ (nét liền, có dây/LAN).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FC4C4"/>
                </a:solidFill>
                <a:latin typeface="IBM Plex Mono"/>
              </a:rPr>
              <a:t>MÔ HÌNH PHÂN LỚP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868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7ECF1"/>
                </a:solidFill>
                <a:latin typeface="Archivo"/>
              </a:rPr>
              <a:t>Mô hình IoT 5 lớp áp dụng cho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400" b="1">
                <a:solidFill>
                  <a:srgbClr val="354450"/>
                </a:solidFill>
                <a:latin typeface="Archivo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881360" cy="0"/>
          </a:xfrm>
          <a:prstGeom prst="line">
            <a:avLst/>
          </a:prstGeom>
          <a:ln w="12700">
            <a:solidFill>
              <a:srgbClr val="354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6916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4A4B2"/>
                </a:solidFill>
                <a:latin typeface="IBM Plex Sans"/>
              </a:rPr>
              <a:t>Đồ án theo tinh thần mô hình phân lớp IoT phổ biến — Perception – Network – Transport – Processing – Application — thu gọn từ 7 lớp OSI.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32304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16212C"/>
          </a:solidFill>
          <a:ln w="15875">
            <a:solidFill>
              <a:srgbClr val="5F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32304"/>
            <a:ext cx="2103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5FC4C4"/>
                </a:solidFill>
                <a:latin typeface="Archivo"/>
              </a:rPr>
              <a:t>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432304"/>
            <a:ext cx="8321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4A4B2"/>
                </a:solidFill>
                <a:latin typeface="IBM Plex Sans"/>
              </a:rPr>
              <a:t>React Dashboard (Vite) — biểu đồ realtime, điều khiển thiết bị, chatbot AI.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2944368"/>
            <a:ext cx="10607040" cy="0"/>
          </a:xfrm>
          <a:prstGeom prst="line">
            <a:avLst/>
          </a:prstGeom>
          <a:ln w="9525">
            <a:solidFill>
              <a:srgbClr val="354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" y="2999232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16212C"/>
          </a:solidFill>
          <a:ln w="15875">
            <a:solidFill>
              <a:srgbClr val="5F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99232"/>
            <a:ext cx="2103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5FC4C4"/>
                </a:solidFill>
                <a:latin typeface="Archivo"/>
              </a:rPr>
              <a:t>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999232"/>
            <a:ext cx="8321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4A4B2"/>
                </a:solidFill>
                <a:latin typeface="IBM Plex Sans"/>
              </a:rPr>
              <a:t>MQTT Broker (pub/sub) + Node.js (Express · mysql2 · ws) — lưu trữ, gợi ý, phát hiện bất thường, gọi LLM.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3511296"/>
            <a:ext cx="10607040" cy="0"/>
          </a:xfrm>
          <a:prstGeom prst="line">
            <a:avLst/>
          </a:prstGeom>
          <a:ln w="9525">
            <a:solidFill>
              <a:srgbClr val="354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" y="3566160"/>
            <a:ext cx="2103120" cy="347472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94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66160"/>
            <a:ext cx="21031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94A4B2"/>
                </a:solidFill>
                <a:latin typeface="Archivo"/>
              </a:rPr>
              <a:t>TCP — cầu nối chung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566160"/>
            <a:ext cx="83210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4A4B2"/>
                </a:solidFill>
                <a:latin typeface="IBM Plex Sans"/>
              </a:rPr>
              <a:t>Nền truyền tin cậy, có thứ tự cho MQTT (1883), HTTP (3000) và WebSocket (8081).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3968496"/>
            <a:ext cx="10607040" cy="0"/>
          </a:xfrm>
          <a:prstGeom prst="line">
            <a:avLst/>
          </a:prstGeom>
          <a:ln w="9525">
            <a:solidFill>
              <a:srgbClr val="354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0080" y="4023359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16212C"/>
          </a:solidFill>
          <a:ln w="15875">
            <a:solidFill>
              <a:srgbClr val="E09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023359"/>
            <a:ext cx="2103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0964F"/>
                </a:solidFill>
                <a:latin typeface="Archivo"/>
              </a:rPr>
              <a:t>Network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023359"/>
            <a:ext cx="8321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4A4B2"/>
                </a:solidFill>
                <a:latin typeface="IBM Plex Sans"/>
              </a:rPr>
              <a:t>WiFi 802.11 (2.4GHz) + IPv4 nội bộ — ESP32 &amp; dashboard cùng một mạng LAN.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4535424"/>
            <a:ext cx="10607040" cy="0"/>
          </a:xfrm>
          <a:prstGeom prst="line">
            <a:avLst/>
          </a:prstGeom>
          <a:ln w="9525">
            <a:solidFill>
              <a:srgbClr val="354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0080" y="4590288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16212C"/>
          </a:solidFill>
          <a:ln w="15875">
            <a:solidFill>
              <a:srgbClr val="E09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590288"/>
            <a:ext cx="2103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0964F"/>
                </a:solidFill>
                <a:latin typeface="Archivo"/>
              </a:rPr>
              <a:t>Perception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590288"/>
            <a:ext cx="8321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4A4B2"/>
                </a:solidFill>
                <a:latin typeface="IBM Plex Sans"/>
              </a:rPr>
              <a:t>ESP32 (GPIO) + cảm biến DHT11/PIR/LDR + relay/LED/còi — đọc &amp; xuất tín hiệu vật lý.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FC4C4"/>
                </a:solidFill>
                <a:latin typeface="IBM Plex Mono"/>
              </a:rPr>
              <a:t>LỚP PERCEPTION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868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7ECF1"/>
                </a:solidFill>
                <a:latin typeface="Archivo"/>
              </a:rPr>
              <a:t>Phần cứng &amp; giao tiếp cảm biến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400" b="1">
                <a:solidFill>
                  <a:srgbClr val="354450"/>
                </a:solidFill>
                <a:latin typeface="Archivo"/>
              </a:rP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881360" cy="0"/>
          </a:xfrm>
          <a:prstGeom prst="line">
            <a:avLst/>
          </a:prstGeom>
          <a:ln w="12700">
            <a:solidFill>
              <a:srgbClr val="354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691640"/>
            <a:ext cx="5303520" cy="3931920"/>
          </a:xfrm>
          <a:prstGeom prst="roundRect">
            <a:avLst>
              <a:gd name="adj" fmla="val 8000"/>
            </a:avLst>
          </a:prstGeom>
          <a:solidFill>
            <a:srgbClr val="16212C"/>
          </a:solidFill>
          <a:ln w="12700">
            <a:solidFill>
              <a:srgbClr val="354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2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94A4B2"/>
                </a:solidFill>
                <a:latin typeface="IBM Plex Mono"/>
              </a:rPr>
              <a:t>Đầu vào — cảm biến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7ECF1"/>
                </a:solidFill>
                <a:latin typeface="IBM Plex Sans"/>
              </a:rPr>
              <a:t>DHT11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24327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4A4B2"/>
                </a:solidFill>
                <a:latin typeface="IBM Plex Sans"/>
              </a:rPr>
              <a:t>Nhiệt độ &amp; độ ẩm — giao tiếp 1 dây (single-wire), đọc theo chu kỳ xung.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91839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7ECF1"/>
                </a:solidFill>
                <a:latin typeface="IBM Plex Sans"/>
              </a:rPr>
              <a:t>PIR / HC-SR501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84447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4A4B2"/>
                </a:solidFill>
                <a:latin typeface="IBM Plex Sans"/>
              </a:rPr>
              <a:t>Phát hiện chuyển động hồng ngoại — ngõ ra digital HIGH/LOW.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51959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7ECF1"/>
                </a:solidFill>
                <a:latin typeface="IBM Plex Sans"/>
              </a:rPr>
              <a:t>Quang trở (LDR, HW-072)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544568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4A4B2"/>
                </a:solidFill>
                <a:latin typeface="IBM Plex Sans"/>
              </a:rPr>
              <a:t>Cường độ ánh sáng — ngõ ra digital qua IC so sánh, ngưỡng chỉnh bằng chiết áp.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91640"/>
            <a:ext cx="5303520" cy="3931920"/>
          </a:xfrm>
          <a:prstGeom prst="roundRect">
            <a:avLst>
              <a:gd name="adj" fmla="val 8000"/>
            </a:avLst>
          </a:prstGeom>
          <a:solidFill>
            <a:srgbClr val="16212C"/>
          </a:solidFill>
          <a:ln w="12700">
            <a:solidFill>
              <a:srgbClr val="354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87452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94A4B2"/>
                </a:solidFill>
                <a:latin typeface="IBM Plex Mono"/>
              </a:rPr>
              <a:t>Đầu ra — cơ cấu chấp hành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33172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7ECF1"/>
                </a:solidFill>
                <a:latin typeface="IBM Plex Sans"/>
              </a:rPr>
              <a:t>Relay 2 kênh (5V)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624327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4A4B2"/>
                </a:solidFill>
                <a:latin typeface="IBM Plex Sans"/>
              </a:rPr>
              <a:t>Đóng/cắt thiết bị điện thật (220V) từ tín hiệu 3.3V của ESP32.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291839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7ECF1"/>
                </a:solidFill>
                <a:latin typeface="IBM Plex Sans"/>
              </a:rPr>
              <a:t>LED chỉ báo (GPIO25)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584447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4A4B2"/>
                </a:solidFill>
                <a:latin typeface="IBM Plex Sans"/>
              </a:rPr>
              <a:t>Qua điện trở hạn dòng — báo hiệu khi PIR phát hiện chuyển động.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251959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7ECF1"/>
                </a:solidFill>
                <a:latin typeface="IBM Plex Sans"/>
              </a:rPr>
              <a:t>Còi chủ động (GPIO33)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544568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4A4B2"/>
                </a:solidFill>
                <a:latin typeface="IBM Plex Sans"/>
              </a:rPr>
              <a:t>Cảnh báo / chuông cửa — tự kêu 0.5 giây khi có chuyển động.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806440"/>
            <a:ext cx="10789920" cy="685800"/>
          </a:xfrm>
          <a:prstGeom prst="roundRect">
            <a:avLst>
              <a:gd name="adj" fmla="val 8000"/>
            </a:avLst>
          </a:prstGeom>
          <a:solidFill>
            <a:srgbClr val="142222"/>
          </a:solidFill>
          <a:ln w="12700">
            <a:solidFill>
              <a:srgbClr val="5F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5934455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FC4C4"/>
                </a:solidFill>
                <a:latin typeface="IBM Plex Sans"/>
              </a:rPr>
              <a:t>Ghi chú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6245352"/>
            <a:ext cx="1042416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7ECF1"/>
                </a:solidFill>
                <a:latin typeface="IBM Plex Sans"/>
              </a:rPr>
              <a:t>ESP32 đóng vai trò edge gateway — vừa đọc cảm biến, vừa tự suy luận cục bộ, vừa là điểm cuối MQTT của toàn hệ thống.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FC4C4"/>
                </a:solidFill>
                <a:latin typeface="IBM Plex Mono"/>
              </a:rPr>
              <a:t>LỚP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868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7ECF1"/>
                </a:solidFill>
                <a:latin typeface="Archivo"/>
              </a:rPr>
              <a:t>Vì sao chọn WiFi cho kết nối không dây?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400" b="1">
                <a:solidFill>
                  <a:srgbClr val="354450"/>
                </a:solidFill>
                <a:latin typeface="Archivo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881360" cy="0"/>
          </a:xfrm>
          <a:prstGeom prst="line">
            <a:avLst/>
          </a:prstGeom>
          <a:ln w="12700">
            <a:solidFill>
              <a:srgbClr val="354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91640"/>
          <a:ext cx="1088135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0276"/>
                <a:gridCol w="1700212"/>
                <a:gridCol w="2210276"/>
                <a:gridCol w="2040254"/>
                <a:gridCol w="2720340"/>
              </a:tblGrid>
              <a:tr h="43891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4A4B2"/>
                          </a:solidFill>
                          <a:latin typeface="IBM Plex Mono"/>
                        </a:rPr>
                        <a:t>Công nghệ</a:t>
                      </a:r>
                    </a:p>
                  </a:txBody>
                  <a:tcPr anchor="ctr">
                    <a:solidFill>
                      <a:srgbClr val="1C2A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4A4B2"/>
                          </a:solidFill>
                          <a:latin typeface="IBM Plex Mono"/>
                        </a:rPr>
                        <a:t>Băng thông</a:t>
                      </a:r>
                    </a:p>
                  </a:txBody>
                  <a:tcPr anchor="ctr">
                    <a:solidFill>
                      <a:srgbClr val="1C2A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4A4B2"/>
                          </a:solidFill>
                          <a:latin typeface="IBM Plex Mono"/>
                        </a:rPr>
                        <a:t>Tầm xa</a:t>
                      </a:r>
                    </a:p>
                  </a:txBody>
                  <a:tcPr anchor="ctr">
                    <a:solidFill>
                      <a:srgbClr val="1C2A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4A4B2"/>
                          </a:solidFill>
                          <a:latin typeface="IBM Plex Mono"/>
                        </a:rPr>
                        <a:t>Điện năng</a:t>
                      </a:r>
                    </a:p>
                  </a:txBody>
                  <a:tcPr anchor="ctr">
                    <a:solidFill>
                      <a:srgbClr val="1C2A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4A4B2"/>
                          </a:solidFill>
                          <a:latin typeface="IBM Plex Mono"/>
                        </a:rPr>
                        <a:t>Cần gateway riêng?</a:t>
                      </a:r>
                    </a:p>
                  </a:txBody>
                  <a:tcPr anchor="ctr">
                    <a:solidFill>
                      <a:srgbClr val="1C2A3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7ECF1"/>
                          </a:solidFill>
                          <a:latin typeface="IBM Plex Sans"/>
                        </a:rPr>
                        <a:t>WiFi (đã chọn)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7ECF1"/>
                          </a:solidFill>
                          <a:latin typeface="IBM Plex Sans"/>
                        </a:rPr>
                        <a:t>Cao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7ECF1"/>
                          </a:solidFill>
                          <a:latin typeface="IBM Plex Sans"/>
                        </a:rPr>
                        <a:t>~30–50m trong nhà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7ECF1"/>
                          </a:solidFill>
                          <a:latin typeface="IBM Plex Sans"/>
                        </a:rPr>
                        <a:t>Trung bình–cao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7ECF1"/>
                          </a:solidFill>
                          <a:latin typeface="IBM Plex Sans"/>
                        </a:rPr>
                        <a:t>Không — dùng router có sẵn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7ECF1"/>
                          </a:solidFill>
                          <a:latin typeface="IBM Plex Sans"/>
                        </a:rPr>
                        <a:t>Zigbee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7ECF1"/>
                          </a:solidFill>
                          <a:latin typeface="IBM Plex Sans"/>
                        </a:rPr>
                        <a:t>Thấp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7ECF1"/>
                          </a:solidFill>
                          <a:latin typeface="IBM Plex Sans"/>
                        </a:rPr>
                        <a:t>~10–20m/hop (mesh)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7ECF1"/>
                          </a:solidFill>
                          <a:latin typeface="IBM Plex Sans"/>
                        </a:rPr>
                        <a:t>Rất thấp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7ECF1"/>
                          </a:solidFill>
                          <a:latin typeface="IBM Plex Sans"/>
                        </a:rPr>
                        <a:t>Có — cần hub Zigbee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7ECF1"/>
                          </a:solidFill>
                          <a:latin typeface="IBM Plex Sans"/>
                        </a:rPr>
                        <a:t>Bluetooth (BLE)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7ECF1"/>
                          </a:solidFill>
                          <a:latin typeface="IBM Plex Sans"/>
                        </a:rPr>
                        <a:t>Thấp–TB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7ECF1"/>
                          </a:solidFill>
                          <a:latin typeface="IBM Plex Sans"/>
                        </a:rPr>
                        <a:t>~10–30m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7ECF1"/>
                          </a:solidFill>
                          <a:latin typeface="IBM Plex Sans"/>
                        </a:rPr>
                        <a:t>Thấp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7ECF1"/>
                          </a:solidFill>
                          <a:latin typeface="IBM Plex Sans"/>
                        </a:rPr>
                        <a:t>Có — cần gateway BLE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7ECF1"/>
                          </a:solidFill>
                          <a:latin typeface="IBM Plex Sans"/>
                        </a:rPr>
                        <a:t>LoRaWAN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7ECF1"/>
                          </a:solidFill>
                          <a:latin typeface="IBM Plex Sans"/>
                        </a:rPr>
                        <a:t>Rất thấp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7ECF1"/>
                          </a:solidFill>
                          <a:latin typeface="IBM Plex Sans"/>
                        </a:rPr>
                        <a:t>Hàng km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7ECF1"/>
                          </a:solidFill>
                          <a:latin typeface="IBM Plex Sans"/>
                        </a:rPr>
                        <a:t>Rất thấp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7ECF1"/>
                          </a:solidFill>
                          <a:latin typeface="IBM Plex Sans"/>
                        </a:rPr>
                        <a:t>Có — cần gateway LoRa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206240"/>
            <a:ext cx="10881360" cy="1234440"/>
          </a:xfrm>
          <a:prstGeom prst="roundRect">
            <a:avLst>
              <a:gd name="adj" fmla="val 8000"/>
            </a:avLst>
          </a:prstGeom>
          <a:solidFill>
            <a:srgbClr val="142222"/>
          </a:solidFill>
          <a:ln w="12700">
            <a:solidFill>
              <a:srgbClr val="E09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4334255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0964F"/>
                </a:solidFill>
                <a:latin typeface="IBM Plex Sans"/>
              </a:rPr>
              <a:t>Quyết định thiết kế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464515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7ECF1"/>
                </a:solidFill>
                <a:latin typeface="IBM Plex Sans"/>
              </a:rPr>
              <a:t>Phạm vi một phòng khách, đã có sẵn router WiFi, ưu tiên triển khai nhanh và băng thông đủ cho payload JSON/MQTT → chọn WiFi, đánh đổi bằng tiêu thụ điện cao hơn (chấp nhận được vì ESP32 dùng nguồn adapter, không chạy pin).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FC4C4"/>
                </a:solidFill>
                <a:latin typeface="IBM Plex Mono"/>
              </a:rPr>
              <a:t>GIAO THỨC ỨNG DỤNG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868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7ECF1"/>
                </a:solidFill>
                <a:latin typeface="Archivo"/>
              </a:rPr>
              <a:t>MQTT — publish/subscribe cho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400" b="1">
                <a:solidFill>
                  <a:srgbClr val="354450"/>
                </a:solidFill>
                <a:latin typeface="Archivo"/>
              </a:rPr>
              <a:t>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881360" cy="0"/>
          </a:xfrm>
          <a:prstGeom prst="line">
            <a:avLst/>
          </a:prstGeom>
          <a:ln w="12700">
            <a:solidFill>
              <a:srgbClr val="354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691640"/>
            <a:ext cx="6035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>
                <a:solidFill>
                  <a:srgbClr val="E7ECF1"/>
                </a:solidFill>
                <a:latin typeface="IBM Plex Sans"/>
              </a:rPr>
              <a:t>•  Broker làm trung gian: publisher (ESP32) đẩy trạng thái, subscriber (backend) nhận — hai bên tách rời (decoupled).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>
                <a:solidFill>
                  <a:srgbClr val="E7ECF1"/>
                </a:solidFill>
                <a:latin typeface="IBM Plex Sans"/>
              </a:rPr>
              <a:t>•  Kết nối bền, giữ mở, header bản tin rất nhỏ (~2 byte) → phù hợp thiết bị tài nguyên hạn chế như ESP32.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>
                <a:solidFill>
                  <a:srgbClr val="E7ECF1"/>
                </a:solidFill>
                <a:latin typeface="IBM Plex Sans"/>
              </a:rPr>
              <a:t>•  ESP32 chỉ đẩy dữ liệu khi có thay đổi, thay vì bị dashboard liên tục hỏi (polling) → tiết kiệm băng thông và CPU.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>
                <a:solidFill>
                  <a:srgbClr val="E7ECF1"/>
                </a:solidFill>
                <a:latin typeface="IBM Plex Sans"/>
              </a:rPr>
              <a:t>•  Backend subscribe một lần vào nha/phongkhach/# (wildcard) để nhận mọi topic con.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691640"/>
            <a:ext cx="4480560" cy="3931920"/>
          </a:xfrm>
          <a:prstGeom prst="roundRect">
            <a:avLst>
              <a:gd name="adj" fmla="val 8000"/>
            </a:avLst>
          </a:prstGeom>
          <a:solidFill>
            <a:srgbClr val="16212C"/>
          </a:solidFill>
          <a:ln w="12700">
            <a:solidFill>
              <a:srgbClr val="354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8040" y="1874520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94A4B2"/>
                </a:solidFill>
                <a:latin typeface="IBM Plex Mono"/>
              </a:rPr>
              <a:t>Cấu trúc topic đang dùng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233172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7ECF1"/>
                </a:solidFill>
                <a:latin typeface="IBM Plex Sans"/>
              </a:rPr>
              <a:t>nha/phongkhach/nhietdo/state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2624327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4A4B2"/>
                </a:solidFill>
                <a:latin typeface="IBM Plex Sans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3291839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7ECF1"/>
                </a:solidFill>
                <a:latin typeface="IBM Plex Sans"/>
              </a:rPr>
              <a:t>nha/phongkhach/doam/state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3584447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4A4B2"/>
                </a:solidFill>
                <a:latin typeface="IBM Plex San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4251959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7ECF1"/>
                </a:solidFill>
                <a:latin typeface="IBM Plex Sans"/>
              </a:rPr>
              <a:t>nha/phongkhach/chuyendong/state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4544568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4A4B2"/>
                </a:solidFill>
                <a:latin typeface="IBM Plex San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5212079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7ECF1"/>
                </a:solidFill>
                <a:latin typeface="IBM Plex Sans"/>
              </a:rPr>
              <a:t>nha/phongkhach/anhsang/state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5504688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4A4B2"/>
                </a:solidFill>
                <a:latin typeface="IBM Plex Sans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FC4C4"/>
                </a:solidFill>
                <a:latin typeface="IBM Plex Mono"/>
              </a:rPr>
              <a:t>TẦNG XỬ LÝ TRUNG TÂM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868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7ECF1"/>
                </a:solidFill>
                <a:latin typeface="Archivo"/>
              </a:rPr>
              <a:t>TCP làm nền — HTTP REST &amp; WebSocket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400" b="1">
                <a:solidFill>
                  <a:srgbClr val="354450"/>
                </a:solidFill>
                <a:latin typeface="Archivo"/>
              </a:rPr>
              <a:t>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881360" cy="0"/>
          </a:xfrm>
          <a:prstGeom prst="line">
            <a:avLst/>
          </a:prstGeom>
          <a:ln w="12700">
            <a:solidFill>
              <a:srgbClr val="354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6916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94A4B2"/>
                </a:solidFill>
                <a:latin typeface="IBM Plex Sans"/>
              </a:rPr>
              <a:t>TCP đảm bảo truyền tin cậy, đúng thứ tự — là nền chung cho MQTT (:1883), HTTP (:3000) và WebSocket (:8081).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06040"/>
            <a:ext cx="5303520" cy="3017520"/>
          </a:xfrm>
          <a:prstGeom prst="roundRect">
            <a:avLst>
              <a:gd name="adj" fmla="val 8000"/>
            </a:avLst>
          </a:prstGeom>
          <a:solidFill>
            <a:srgbClr val="16212C"/>
          </a:solidFill>
          <a:ln w="12700">
            <a:solidFill>
              <a:srgbClr val="354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94A4B2"/>
                </a:solidFill>
                <a:latin typeface="IBM Plex Mono"/>
              </a:rPr>
              <a:t>HTTP REST API — request/response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7ECF1"/>
                </a:solidFill>
                <a:latin typeface="IBM Plex Sans"/>
              </a:rPr>
              <a:t>Truy vấn lịch sử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38727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4A4B2"/>
                </a:solidFill>
                <a:latin typeface="IBM Plex Sans"/>
              </a:rPr>
              <a:t>GET /api/lichsu/:loai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0624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7ECF1"/>
                </a:solidFill>
                <a:latin typeface="IBM Plex Sans"/>
              </a:rPr>
              <a:t>Gửi lệnh một lần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98848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4A4B2"/>
                </a:solidFill>
                <a:latin typeface="IBM Plex Sans"/>
              </a:rPr>
              <a:t>relay, chế độ thủ công, chatbot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166359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7ECF1"/>
                </a:solidFill>
                <a:latin typeface="IBM Plex Sans"/>
              </a:rPr>
              <a:t>CRUD thói quen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458968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4A4B2"/>
                </a:solidFill>
                <a:latin typeface="IBM Plex Sans"/>
              </a:rPr>
              <a:t>phát hiện bất thường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303520" cy="3017520"/>
          </a:xfrm>
          <a:prstGeom prst="roundRect">
            <a:avLst>
              <a:gd name="adj" fmla="val 8000"/>
            </a:avLst>
          </a:prstGeom>
          <a:solidFill>
            <a:srgbClr val="16212C"/>
          </a:solidFill>
          <a:ln w="12700">
            <a:solidFill>
              <a:srgbClr val="354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78892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94A4B2"/>
                </a:solidFill>
                <a:latin typeface="IBM Plex Mono"/>
              </a:rPr>
              <a:t>WebSocket — kết nối mở, realtime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24612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7ECF1"/>
                </a:solidFill>
                <a:latin typeface="IBM Plex Sans"/>
              </a:rPr>
              <a:t>Broadcast tức thời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538727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4A4B2"/>
                </a:solidFill>
                <a:latin typeface="IBM Plex Sans"/>
              </a:rPr>
              <a:t>mỗi khi có bản tin MQTT mới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20624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7ECF1"/>
                </a:solidFill>
                <a:latin typeface="IBM Plex Sans"/>
              </a:rPr>
              <a:t>Không polling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498848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4A4B2"/>
                </a:solidFill>
                <a:latin typeface="IBM Plex Sans"/>
              </a:rPr>
              <a:t>dashboard nhận ngay lập tức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5166359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7ECF1"/>
                </a:solidFill>
                <a:latin typeface="IBM Plex Sans"/>
              </a:rPr>
              <a:t>Tự kết nối lại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5458968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4A4B2"/>
                </a:solidFill>
                <a:latin typeface="IBM Plex Sans"/>
              </a:rPr>
              <a:t>sau 3 giây nếu mất kết nối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FC4C4"/>
                </a:solidFill>
                <a:latin typeface="IBM Plex Mono"/>
              </a:rPr>
              <a:t>LUỒNG DỮ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868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7ECF1"/>
                </a:solidFill>
                <a:latin typeface="Archivo"/>
              </a:rPr>
              <a:t>Hai luồng dữ liệu: uplink &amp; downlink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400" b="1">
                <a:solidFill>
                  <a:srgbClr val="354450"/>
                </a:solidFill>
                <a:latin typeface="Archivo"/>
              </a:rPr>
              <a:t>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881360" cy="0"/>
          </a:xfrm>
          <a:prstGeom prst="line">
            <a:avLst/>
          </a:prstGeom>
          <a:ln w="12700">
            <a:solidFill>
              <a:srgbClr val="354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691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FC4C4"/>
                </a:solidFill>
                <a:latin typeface="IBM Plex Mono"/>
              </a:rPr>
              <a:t>① LUỒNG CẢM BIẾN → DASHBOARD (UPLINK)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1920240" cy="1005840"/>
          </a:xfrm>
          <a:prstGeom prst="roundRect">
            <a:avLst>
              <a:gd name="adj" fmla="val 8000"/>
            </a:avLst>
          </a:prstGeom>
          <a:solidFill>
            <a:srgbClr val="16212C"/>
          </a:solidFill>
          <a:ln w="22225">
            <a:solidFill>
              <a:srgbClr val="5F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148840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5FC4C4"/>
                </a:solidFill>
                <a:latin typeface="IBM Plex Mono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441448"/>
            <a:ext cx="1700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>
                <a:solidFill>
                  <a:srgbClr val="94A4B2"/>
                </a:solidFill>
                <a:latin typeface="IBM Plex Mono"/>
              </a:rPr>
              <a:t>Cảm biến</a:t>
            </a:r>
          </a:p>
          <a:p>
            <a:pPr algn="ctr">
              <a:lnSpc>
                <a:spcPct val="120000"/>
              </a:lnSpc>
            </a:pPr>
            <a:r>
              <a:rPr sz="950" b="0">
                <a:solidFill>
                  <a:srgbClr val="94A4B2"/>
                </a:solidFill>
                <a:latin typeface="IBM Plex Mono"/>
              </a:rPr>
              <a:t>ESP32 (GPIO)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2560320"/>
            <a:ext cx="182880" cy="0"/>
          </a:xfrm>
          <a:prstGeom prst="line">
            <a:avLst/>
          </a:prstGeom>
          <a:ln w="22225">
            <a:solidFill>
              <a:srgbClr val="5FC4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43200" y="2057400"/>
            <a:ext cx="1920240" cy="1005840"/>
          </a:xfrm>
          <a:prstGeom prst="roundRect">
            <a:avLst>
              <a:gd name="adj" fmla="val 8000"/>
            </a:avLst>
          </a:prstGeom>
          <a:solidFill>
            <a:srgbClr val="16212C"/>
          </a:solidFill>
          <a:ln w="22225">
            <a:solidFill>
              <a:srgbClr val="5F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2928" y="2148840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5FC4C4"/>
                </a:solidFill>
                <a:latin typeface="IBM Plex Mono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8" y="2441448"/>
            <a:ext cx="1700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>
                <a:solidFill>
                  <a:srgbClr val="94A4B2"/>
                </a:solidFill>
                <a:latin typeface="IBM Plex Mono"/>
              </a:rPr>
              <a:t>ESP32 publish</a:t>
            </a:r>
          </a:p>
          <a:p>
            <a:pPr algn="ctr">
              <a:lnSpc>
                <a:spcPct val="120000"/>
              </a:lnSpc>
            </a:pPr>
            <a:r>
              <a:rPr sz="950" b="0">
                <a:solidFill>
                  <a:srgbClr val="94A4B2"/>
                </a:solidFill>
                <a:latin typeface="IBM Plex Mono"/>
              </a:rPr>
              <a:t>MQTT .../state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63440" y="2560320"/>
            <a:ext cx="182880" cy="0"/>
          </a:xfrm>
          <a:prstGeom prst="line">
            <a:avLst/>
          </a:prstGeom>
          <a:ln w="22225">
            <a:solidFill>
              <a:srgbClr val="5FC4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846320" y="2057400"/>
            <a:ext cx="1920240" cy="1005840"/>
          </a:xfrm>
          <a:prstGeom prst="roundRect">
            <a:avLst>
              <a:gd name="adj" fmla="val 8000"/>
            </a:avLst>
          </a:prstGeom>
          <a:solidFill>
            <a:srgbClr val="16212C"/>
          </a:solidFill>
          <a:ln w="22225">
            <a:solidFill>
              <a:srgbClr val="5F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2148840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5FC4C4"/>
                </a:solidFill>
                <a:latin typeface="IBM Plex Mono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048" y="2441448"/>
            <a:ext cx="1700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>
                <a:solidFill>
                  <a:srgbClr val="94A4B2"/>
                </a:solidFill>
                <a:latin typeface="IBM Plex Mono"/>
              </a:rPr>
              <a:t>Broker MQTT</a:t>
            </a:r>
          </a:p>
          <a:p>
            <a:pPr algn="ctr">
              <a:lnSpc>
                <a:spcPct val="120000"/>
              </a:lnSpc>
            </a:pPr>
            <a:r>
              <a:rPr sz="950" b="0">
                <a:solidFill>
                  <a:srgbClr val="94A4B2"/>
                </a:solidFill>
                <a:latin typeface="IBM Plex Mono"/>
              </a:rPr>
              <a:t>cổng 1883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66560" y="2560320"/>
            <a:ext cx="182880" cy="0"/>
          </a:xfrm>
          <a:prstGeom prst="line">
            <a:avLst/>
          </a:prstGeom>
          <a:ln w="22225">
            <a:solidFill>
              <a:srgbClr val="5FC4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949440" y="2057400"/>
            <a:ext cx="1920240" cy="1005840"/>
          </a:xfrm>
          <a:prstGeom prst="roundRect">
            <a:avLst>
              <a:gd name="adj" fmla="val 8000"/>
            </a:avLst>
          </a:prstGeom>
          <a:solidFill>
            <a:srgbClr val="16212C"/>
          </a:solidFill>
          <a:ln w="22225">
            <a:solidFill>
              <a:srgbClr val="5F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59168" y="2148840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5FC4C4"/>
                </a:solidFill>
                <a:latin typeface="IBM Plex Mono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2441448"/>
            <a:ext cx="1700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>
                <a:solidFill>
                  <a:srgbClr val="94A4B2"/>
                </a:solidFill>
                <a:latin typeface="IBM Plex Mono"/>
              </a:rPr>
              <a:t>Backend: lưu</a:t>
            </a:r>
          </a:p>
          <a:p>
            <a:pPr algn="ctr">
              <a:lnSpc>
                <a:spcPct val="120000"/>
              </a:lnSpc>
            </a:pPr>
            <a:r>
              <a:rPr sz="950" b="0">
                <a:solidFill>
                  <a:srgbClr val="94A4B2"/>
                </a:solidFill>
                <a:latin typeface="IBM Plex Mono"/>
              </a:rPr>
              <a:t>MySQL + broadcast WS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869680" y="2560320"/>
            <a:ext cx="182880" cy="0"/>
          </a:xfrm>
          <a:prstGeom prst="line">
            <a:avLst/>
          </a:prstGeom>
          <a:ln w="22225">
            <a:solidFill>
              <a:srgbClr val="5FC4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52560" y="2057400"/>
            <a:ext cx="1920240" cy="1005840"/>
          </a:xfrm>
          <a:prstGeom prst="roundRect">
            <a:avLst>
              <a:gd name="adj" fmla="val 8000"/>
            </a:avLst>
          </a:prstGeom>
          <a:solidFill>
            <a:srgbClr val="16212C"/>
          </a:solidFill>
          <a:ln w="22225">
            <a:solidFill>
              <a:srgbClr val="5F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62288" y="2148840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5FC4C4"/>
                </a:solidFill>
                <a:latin typeface="IBM Plex Mono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288" y="2441448"/>
            <a:ext cx="1700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>
                <a:solidFill>
                  <a:srgbClr val="94A4B2"/>
                </a:solidFill>
                <a:latin typeface="IBM Plex Mono"/>
              </a:rPr>
              <a:t>Dashboard</a:t>
            </a:r>
          </a:p>
          <a:p>
            <a:pPr algn="ctr">
              <a:lnSpc>
                <a:spcPct val="120000"/>
              </a:lnSpc>
            </a:pPr>
            <a:r>
              <a:rPr sz="950" b="0">
                <a:solidFill>
                  <a:srgbClr val="94A4B2"/>
                </a:solidFill>
                <a:latin typeface="IBM Plex Mono"/>
              </a:rPr>
              <a:t>cập nhật realtime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2918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E0964F"/>
                </a:solidFill>
                <a:latin typeface="IBM Plex Mono"/>
              </a:rPr>
              <a:t>② LUỒNG ĐIỀU KHIỂN → THIẾT BỊ (DOWNLINK)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611880"/>
            <a:ext cx="1920240" cy="1005840"/>
          </a:xfrm>
          <a:prstGeom prst="roundRect">
            <a:avLst>
              <a:gd name="adj" fmla="val 8000"/>
            </a:avLst>
          </a:prstGeom>
          <a:solidFill>
            <a:srgbClr val="16212C"/>
          </a:solidFill>
          <a:ln w="22225">
            <a:solidFill>
              <a:srgbClr val="E09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3703320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0964F"/>
                </a:solidFill>
                <a:latin typeface="IBM Plex Mono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3995928"/>
            <a:ext cx="1700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>
                <a:solidFill>
                  <a:srgbClr val="94A4B2"/>
                </a:solidFill>
                <a:latin typeface="IBM Plex Mono"/>
              </a:rPr>
              <a:t>Người dùng</a:t>
            </a:r>
          </a:p>
          <a:p>
            <a:pPr algn="ctr">
              <a:lnSpc>
                <a:spcPct val="120000"/>
              </a:lnSpc>
            </a:pPr>
            <a:r>
              <a:rPr sz="950" b="0">
                <a:solidFill>
                  <a:srgbClr val="94A4B2"/>
                </a:solidFill>
                <a:latin typeface="IBM Plex Mono"/>
              </a:rPr>
              <a:t>dashboard / chatbot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560320" y="4114800"/>
            <a:ext cx="182880" cy="0"/>
          </a:xfrm>
          <a:prstGeom prst="line">
            <a:avLst/>
          </a:prstGeom>
          <a:ln w="22225">
            <a:solidFill>
              <a:srgbClr val="E096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743200" y="3611880"/>
            <a:ext cx="1920240" cy="1005840"/>
          </a:xfrm>
          <a:prstGeom prst="roundRect">
            <a:avLst>
              <a:gd name="adj" fmla="val 8000"/>
            </a:avLst>
          </a:prstGeom>
          <a:solidFill>
            <a:srgbClr val="16212C"/>
          </a:solidFill>
          <a:ln w="22225">
            <a:solidFill>
              <a:srgbClr val="E09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52928" y="3703320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0964F"/>
                </a:solidFill>
                <a:latin typeface="IBM Plex Mono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52928" y="3995928"/>
            <a:ext cx="1700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>
                <a:solidFill>
                  <a:srgbClr val="94A4B2"/>
                </a:solidFill>
                <a:latin typeface="IBM Plex Mono"/>
              </a:rPr>
              <a:t>Backend xử lý</a:t>
            </a:r>
          </a:p>
          <a:p>
            <a:pPr algn="ctr">
              <a:lnSpc>
                <a:spcPct val="120000"/>
              </a:lnSpc>
            </a:pPr>
            <a:r>
              <a:rPr sz="950" b="0">
                <a:solidFill>
                  <a:srgbClr val="94A4B2"/>
                </a:solidFill>
                <a:latin typeface="IBM Plex Mono"/>
              </a:rPr>
              <a:t>lệnh / gọi LLM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663440" y="4114800"/>
            <a:ext cx="182880" cy="0"/>
          </a:xfrm>
          <a:prstGeom prst="line">
            <a:avLst/>
          </a:prstGeom>
          <a:ln w="22225">
            <a:solidFill>
              <a:srgbClr val="E096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846320" y="3611880"/>
            <a:ext cx="1920240" cy="1005840"/>
          </a:xfrm>
          <a:prstGeom prst="roundRect">
            <a:avLst>
              <a:gd name="adj" fmla="val 8000"/>
            </a:avLst>
          </a:prstGeom>
          <a:solidFill>
            <a:srgbClr val="16212C"/>
          </a:solidFill>
          <a:ln w="22225">
            <a:solidFill>
              <a:srgbClr val="E09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56048" y="3703320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0964F"/>
                </a:solidFill>
                <a:latin typeface="IBM Plex Mono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56048" y="3995928"/>
            <a:ext cx="1700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>
                <a:solidFill>
                  <a:srgbClr val="94A4B2"/>
                </a:solidFill>
                <a:latin typeface="IBM Plex Mono"/>
              </a:rPr>
              <a:t>Broker MQTT</a:t>
            </a:r>
          </a:p>
          <a:p>
            <a:pPr algn="ctr">
              <a:lnSpc>
                <a:spcPct val="120000"/>
              </a:lnSpc>
            </a:pPr>
            <a:r>
              <a:rPr sz="950" b="0">
                <a:solidFill>
                  <a:srgbClr val="94A4B2"/>
                </a:solidFill>
                <a:latin typeface="IBM Plex Mono"/>
              </a:rPr>
              <a:t>cổng 1883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766560" y="4114800"/>
            <a:ext cx="182880" cy="0"/>
          </a:xfrm>
          <a:prstGeom prst="line">
            <a:avLst/>
          </a:prstGeom>
          <a:ln w="22225">
            <a:solidFill>
              <a:srgbClr val="E096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949440" y="3611880"/>
            <a:ext cx="1920240" cy="1005840"/>
          </a:xfrm>
          <a:prstGeom prst="roundRect">
            <a:avLst>
              <a:gd name="adj" fmla="val 8000"/>
            </a:avLst>
          </a:prstGeom>
          <a:solidFill>
            <a:srgbClr val="16212C"/>
          </a:solidFill>
          <a:ln w="22225">
            <a:solidFill>
              <a:srgbClr val="E09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59168" y="3703320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0964F"/>
                </a:solidFill>
                <a:latin typeface="IBM Plex Mono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9168" y="3995928"/>
            <a:ext cx="1700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>
                <a:solidFill>
                  <a:srgbClr val="94A4B2"/>
                </a:solidFill>
                <a:latin typeface="IBM Plex Mono"/>
              </a:rPr>
              <a:t>Backend publish</a:t>
            </a:r>
          </a:p>
          <a:p>
            <a:pPr algn="ctr">
              <a:lnSpc>
                <a:spcPct val="120000"/>
              </a:lnSpc>
            </a:pPr>
            <a:r>
              <a:rPr sz="950" b="0">
                <a:solidFill>
                  <a:srgbClr val="94A4B2"/>
                </a:solidFill>
                <a:latin typeface="IBM Plex Mono"/>
              </a:rPr>
              <a:t>MQTT .../set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869680" y="4114800"/>
            <a:ext cx="182880" cy="0"/>
          </a:xfrm>
          <a:prstGeom prst="line">
            <a:avLst/>
          </a:prstGeom>
          <a:ln w="22225">
            <a:solidFill>
              <a:srgbClr val="E096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052560" y="3611880"/>
            <a:ext cx="1920240" cy="1005840"/>
          </a:xfrm>
          <a:prstGeom prst="roundRect">
            <a:avLst>
              <a:gd name="adj" fmla="val 8000"/>
            </a:avLst>
          </a:prstGeom>
          <a:solidFill>
            <a:srgbClr val="16212C"/>
          </a:solidFill>
          <a:ln w="22225">
            <a:solidFill>
              <a:srgbClr val="E09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62288" y="3703320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0964F"/>
                </a:solidFill>
                <a:latin typeface="IBM Plex Mono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62288" y="3995928"/>
            <a:ext cx="1700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>
                <a:solidFill>
                  <a:srgbClr val="94A4B2"/>
                </a:solidFill>
                <a:latin typeface="IBM Plex Mono"/>
              </a:rPr>
              <a:t>ESP32 thực thi</a:t>
            </a:r>
          </a:p>
          <a:p>
            <a:pPr algn="ctr">
              <a:lnSpc>
                <a:spcPct val="120000"/>
              </a:lnSpc>
            </a:pPr>
            <a:r>
              <a:rPr sz="950" b="0">
                <a:solidFill>
                  <a:srgbClr val="94A4B2"/>
                </a:solidFill>
                <a:latin typeface="IBM Plex Mono"/>
              </a:rPr>
              <a:t>relay · LED · còi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4892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4B2"/>
                </a:solidFill>
                <a:latin typeface="IBM Plex Sans"/>
              </a:rPr>
              <a:t>Broker MQTT là điểm trung chuyển chung cho cả hai chiều — publisher và subscriber hoàn toàn tách rời nhau.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FC4C4"/>
                </a:solidFill>
                <a:latin typeface="IBM Plex Mono"/>
              </a:rPr>
              <a:t>TỔNG HỢP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868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7ECF1"/>
                </a:solidFill>
                <a:latin typeface="Archivo"/>
              </a:rPr>
              <a:t>Công nghệ mạng theo từng lớp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400" b="1">
                <a:solidFill>
                  <a:srgbClr val="354450"/>
                </a:solidFill>
                <a:latin typeface="Archivo"/>
              </a:rPr>
              <a:t>09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881360" cy="0"/>
          </a:xfrm>
          <a:prstGeom prst="line">
            <a:avLst/>
          </a:prstGeom>
          <a:ln w="12700">
            <a:solidFill>
              <a:srgbClr val="354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91640"/>
          <a:ext cx="10881357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1061"/>
                <a:gridCol w="2261061"/>
                <a:gridCol w="1837112"/>
                <a:gridCol w="4522123"/>
              </a:tblGrid>
              <a:tr h="4673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4A4B2"/>
                          </a:solidFill>
                          <a:latin typeface="IBM Plex Mono"/>
                        </a:rPr>
                        <a:t>Lớp</a:t>
                      </a:r>
                    </a:p>
                  </a:txBody>
                  <a:tcPr anchor="ctr">
                    <a:solidFill>
                      <a:srgbClr val="1C2A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4A4B2"/>
                          </a:solidFill>
                          <a:latin typeface="IBM Plex Mono"/>
                        </a:rPr>
                        <a:t>Công nghệ</a:t>
                      </a:r>
                    </a:p>
                  </a:txBody>
                  <a:tcPr anchor="ctr">
                    <a:solidFill>
                      <a:srgbClr val="1C2A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4A4B2"/>
                          </a:solidFill>
                          <a:latin typeface="IBM Plex Mono"/>
                        </a:rPr>
                        <a:t>Cổng / giao thức</a:t>
                      </a:r>
                    </a:p>
                  </a:txBody>
                  <a:tcPr anchor="ctr">
                    <a:solidFill>
                      <a:srgbClr val="1C2A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4A4B2"/>
                          </a:solidFill>
                          <a:latin typeface="IBM Plex Mono"/>
                        </a:rPr>
                        <a:t>Vai trò trong hệ thống</a:t>
                      </a:r>
                    </a:p>
                  </a:txBody>
                  <a:tcPr anchor="ctr">
                    <a:solidFill>
                      <a:srgbClr val="1C2A37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7ECF1"/>
                          </a:solidFill>
                          <a:latin typeface="IBM Plex Sans"/>
                        </a:rPr>
                        <a:t>Perception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7ECF1"/>
                          </a:solidFill>
                          <a:latin typeface="IBM Plex Sans"/>
                        </a:rPr>
                        <a:t>GPIO digital / one-wire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7ECF1"/>
                          </a:solidFill>
                          <a:latin typeface="IBM Plex Sans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7ECF1"/>
                          </a:solidFill>
                          <a:latin typeface="IBM Plex Sans"/>
                        </a:rPr>
                        <a:t>Đọc cảm biến, xuất tín hiệu điều khiển relay/LED/còi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7ECF1"/>
                          </a:solidFill>
                          <a:latin typeface="IBM Plex Sans"/>
                        </a:rPr>
                        <a:t>Network (không dây)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7ECF1"/>
                          </a:solidFill>
                          <a:latin typeface="IBM Plex Sans"/>
                        </a:rPr>
                        <a:t>WiFi 802.11 (2.4GHz)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7ECF1"/>
                          </a:solidFill>
                          <a:latin typeface="IBM Plex Sans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7ECF1"/>
                          </a:solidFill>
                          <a:latin typeface="IBM Plex Sans"/>
                        </a:rPr>
                        <a:t>Đưa ESP32 &amp; dashboard vào cùng LAN, cấp IP qua DHCP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7ECF1"/>
                          </a:solidFill>
                          <a:latin typeface="IBM Plex Sans"/>
                        </a:rPr>
                        <a:t>Network (định tuyến)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7ECF1"/>
                          </a:solidFill>
                          <a:latin typeface="IBM Plex Sans"/>
                        </a:rPr>
                        <a:t>IPv4 nội bộ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7ECF1"/>
                          </a:solidFill>
                          <a:latin typeface="IBM Plex Sans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7ECF1"/>
                          </a:solidFill>
                          <a:latin typeface="IBM Plex Sans"/>
                        </a:rPr>
                        <a:t>Định danh, định tuyến gói tin trong mạng LAN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7ECF1"/>
                          </a:solidFill>
                          <a:latin typeface="IBM Plex Sans"/>
                        </a:rPr>
                        <a:t>Transport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7ECF1"/>
                          </a:solidFill>
                          <a:latin typeface="IBM Plex Sans"/>
                        </a:rPr>
                        <a:t>TCP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7ECF1"/>
                          </a:solidFill>
                          <a:latin typeface="IBM Plex Sans"/>
                        </a:rPr>
                        <a:t>1883 · 3000 · 8081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7ECF1"/>
                          </a:solidFill>
                          <a:latin typeface="IBM Plex Sans"/>
                        </a:rPr>
                        <a:t>Truyền tin cậy, đúng thứ tự cho MQTT/HTTP/WS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7ECF1"/>
                          </a:solidFill>
                          <a:latin typeface="IBM Plex Sans"/>
                        </a:rPr>
                        <a:t>Application (thiết bị)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7ECF1"/>
                          </a:solidFill>
                          <a:latin typeface="IBM Plex Sans"/>
                        </a:rPr>
                        <a:t>MQTT pub/sub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7ECF1"/>
                          </a:solidFill>
                          <a:latin typeface="IBM Plex Sans"/>
                        </a:rPr>
                        <a:t>nha/phongkhach/#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7ECF1"/>
                          </a:solidFill>
                          <a:latin typeface="IBM Plex Sans"/>
                        </a:rPr>
                        <a:t>ESP32 gửi trạng thái cảm biến &amp; nhận lệnh điều khiển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7ECF1"/>
                          </a:solidFill>
                          <a:latin typeface="IBM Plex Sans"/>
                        </a:rPr>
                        <a:t>Application (truy vấn)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7ECF1"/>
                          </a:solidFill>
                          <a:latin typeface="IBM Plex Sans"/>
                        </a:rPr>
                        <a:t>HTTP REST (JSON)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7ECF1"/>
                          </a:solidFill>
                          <a:latin typeface="IBM Plex Sans"/>
                        </a:rPr>
                        <a:t>:3000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7ECF1"/>
                          </a:solidFill>
                          <a:latin typeface="IBM Plex Sans"/>
                        </a:rPr>
                        <a:t>Dashboard lấy lịch sử, gửi lệnh, CRUD thói quen, chatbot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7ECF1"/>
                          </a:solidFill>
                          <a:latin typeface="IBM Plex Sans"/>
                        </a:rPr>
                        <a:t>Application (realtime)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7ECF1"/>
                          </a:solidFill>
                          <a:latin typeface="IBM Plex Sans"/>
                        </a:rPr>
                        <a:t>WebSocket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7ECF1"/>
                          </a:solidFill>
                          <a:latin typeface="IBM Plex Sans"/>
                        </a:rPr>
                        <a:t>:8081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7ECF1"/>
                          </a:solidFill>
                          <a:latin typeface="IBM Plex Sans"/>
                        </a:rPr>
                        <a:t>Đẩy dữ liệu cảm biến &amp; cảnh báo tới dashboard tức thời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7ECF1"/>
                          </a:solidFill>
                          <a:latin typeface="IBM Plex Sans"/>
                        </a:rPr>
                        <a:t>Application (AI)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7ECF1"/>
                          </a:solidFill>
                          <a:latin typeface="IBM Plex Sans"/>
                        </a:rPr>
                        <a:t>HTTP tới LLM cục bộ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7ECF1"/>
                          </a:solidFill>
                          <a:latin typeface="IBM Plex Sans"/>
                        </a:rPr>
                        <a:t>:11434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7ECF1"/>
                          </a:solidFill>
                          <a:latin typeface="IBM Plex Sans"/>
                        </a:rPr>
                        <a:t>Backend gọi model llama3.1 (Ollama) để trả lời chatbot</a:t>
                      </a:r>
                    </a:p>
                  </a:txBody>
                  <a:tcPr anchor="ctr" marL="73152" marR="73152">
                    <a:solidFill>
                      <a:srgbClr val="1621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FC4C4"/>
                </a:solidFill>
                <a:latin typeface="IBM Plex Mono"/>
              </a:rPr>
              <a:t>ĐÁNH GIÁ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868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7ECF1"/>
                </a:solidFill>
                <a:latin typeface="Archivo"/>
              </a:rPr>
              <a:t>Ưu điểm &amp; hạn chế của kiến trúc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400" b="1">
                <a:solidFill>
                  <a:srgbClr val="354450"/>
                </a:solidFill>
                <a:latin typeface="Archivo"/>
              </a:rPr>
              <a:t>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881360" cy="0"/>
          </a:xfrm>
          <a:prstGeom prst="line">
            <a:avLst/>
          </a:prstGeom>
          <a:ln w="12700">
            <a:solidFill>
              <a:srgbClr val="354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691640"/>
            <a:ext cx="5303520" cy="4206240"/>
          </a:xfrm>
          <a:prstGeom prst="roundRect">
            <a:avLst>
              <a:gd name="adj" fmla="val 8000"/>
            </a:avLst>
          </a:prstGeom>
          <a:solidFill>
            <a:srgbClr val="16212C"/>
          </a:solidFill>
          <a:ln w="19050">
            <a:solidFill>
              <a:srgbClr val="5FBF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2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5FBF85"/>
                </a:solidFill>
                <a:latin typeface="Archivo"/>
              </a:rPr>
              <a:t>Ưu điểm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484632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>
                <a:solidFill>
                  <a:srgbClr val="E7ECF1"/>
                </a:solidFill>
                <a:latin typeface="IBM Plex Sans"/>
              </a:rPr>
              <a:t>•  MQTT nhẹ, phù hợp thiết bị tài nguyên hạn chế như ESP32 (bản tin nhỏ, kết nối bền, pub/sub tách rời).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>
                <a:solidFill>
                  <a:srgbClr val="E7ECF1"/>
                </a:solidFill>
                <a:latin typeface="IBM Plex Sans"/>
              </a:rPr>
              <a:t>•  WebSocket giúp dashboard cập nhật tức thời, không cần polling liên tục → giảm tải mạng.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>
                <a:solidFill>
                  <a:srgbClr val="E7ECF1"/>
                </a:solidFill>
                <a:latin typeface="IBM Plex Sans"/>
              </a:rPr>
              <a:t>•  REST API tách riêng cho thao tác không cần thời gian thực → kiến trúc rõ ràng, dễ mở rộng.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>
                <a:solidFill>
                  <a:srgbClr val="E7ECF1"/>
                </a:solidFill>
                <a:latin typeface="IBM Plex Sans"/>
              </a:rPr>
              <a:t>•  Chạy local-first: độ trễ thấp, vẫn hoạt động khi mất Internet, không phụ thuộc cloud.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91640"/>
            <a:ext cx="5303520" cy="4206240"/>
          </a:xfrm>
          <a:prstGeom prst="roundRect">
            <a:avLst>
              <a:gd name="adj" fmla="val 8000"/>
            </a:avLst>
          </a:prstGeom>
          <a:solidFill>
            <a:srgbClr val="16212C"/>
          </a:solidFill>
          <a:ln w="19050">
            <a:solidFill>
              <a:srgbClr val="E268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87452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2685F"/>
                </a:solidFill>
                <a:latin typeface="Archivo"/>
              </a:rPr>
              <a:t>Hạn chế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286000"/>
            <a:ext cx="484632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>
                <a:solidFill>
                  <a:srgbClr val="E7ECF1"/>
                </a:solidFill>
                <a:latin typeface="IBM Plex Sans"/>
              </a:rPr>
              <a:t>•  Chưa mã hoá đường truyền: MQTT/HTTP/WS đều chạy plain-text, dễ bị nghe lén trong LAN.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>
                <a:solidFill>
                  <a:srgbClr val="E7ECF1"/>
                </a:solidFill>
                <a:latin typeface="IBM Plex Sans"/>
              </a:rPr>
              <a:t>•  Broker MQTT chưa có xác thực — thiết bị lạ trong mạng có thể publish/subscribe tuỳ ý.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>
                <a:solidFill>
                  <a:srgbClr val="E7ECF1"/>
                </a:solidFill>
                <a:latin typeface="IBM Plex Sans"/>
              </a:rPr>
              <a:t>•  1 broker chạy trên 1 máy = điểm lỗi đơn (single point of failure).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>
                <a:solidFill>
                  <a:srgbClr val="E7ECF1"/>
                </a:solidFill>
                <a:latin typeface="IBM Plex Sans"/>
              </a:rPr>
              <a:t>•  Chỉ hoạt động trong LAN — muốn điều khiển từ xa cần thêm VPN hoặc MQTT bridge/cloud.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FC4C4"/>
                </a:solidFill>
                <a:latin typeface="IBM Plex Mono"/>
              </a:rPr>
              <a:t>KẾT LUẬN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868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7ECF1"/>
                </a:solidFill>
                <a:latin typeface="Archivo"/>
              </a:rPr>
              <a:t>Kết luận &amp; hướng phát triển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400" b="1">
                <a:solidFill>
                  <a:srgbClr val="354450"/>
                </a:solidFill>
                <a:latin typeface="Archivo"/>
              </a:rPr>
              <a:t>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881360" cy="0"/>
          </a:xfrm>
          <a:prstGeom prst="line">
            <a:avLst/>
          </a:prstGeom>
          <a:ln w="12700">
            <a:solidFill>
              <a:srgbClr val="354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691640"/>
            <a:ext cx="10607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>
                <a:solidFill>
                  <a:srgbClr val="E7ECF1"/>
                </a:solidFill>
                <a:latin typeface="IBM Plex Sans"/>
              </a:rPr>
              <a:t>•  Hệ thống bám sát mô hình phân lớp IoT (Perception – Network – Transport – Processing – Application), triển khai bằng công nghệ thực tế: WiFi, MQTT, TCP, HTTP REST, WebSocket.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>
                <a:solidFill>
                  <a:srgbClr val="E7ECF1"/>
                </a:solidFill>
                <a:latin typeface="IBM Plex Sans"/>
              </a:rPr>
              <a:t>•  Kiến trúc local-first, không phụ thuộc cloud: toàn bộ xử lý — broker, API, cơ sở dữ liệu, AI — chạy on-premise, giảm độ trễ.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>
                <a:solidFill>
                  <a:srgbClr val="E7ECF1"/>
                </a:solidFill>
                <a:latin typeface="IBM Plex Sans"/>
              </a:rPr>
              <a:t>•  Hướng phát triển: bật TLS cho MQTT/HTTP/WS (mqtts://, wss://, https://), thêm xác thực broker, MQTT bridge lên cloud để điều khiển từ xa an toàn, tinh chỉnh QoS theo từng loại dữ liệu.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486400"/>
            <a:ext cx="10881360" cy="822960"/>
          </a:xfrm>
          <a:prstGeom prst="roundRect">
            <a:avLst>
              <a:gd name="adj" fmla="val 8000"/>
            </a:avLst>
          </a:prstGeom>
          <a:solidFill>
            <a:srgbClr val="142222"/>
          </a:solidFill>
          <a:ln w="12700">
            <a:solidFill>
              <a:srgbClr val="5F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561441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FC4C4"/>
                </a:solidFill>
                <a:latin typeface="IBM Plex Sans"/>
              </a:rPr>
              <a:t>Cảm ơn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592531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7ECF1"/>
                </a:solidFill>
                <a:latin typeface="IBM Plex Sans"/>
              </a:rPr>
              <a:t>Cảm ơn thầy/cô và các bạn đã theo dõi — sẵn sàng cho phần hỏi đáp.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